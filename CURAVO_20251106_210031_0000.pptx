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Della Respira" charset="1" panose="02000603000000000000"/>
      <p:regular r:id="rId20"/>
    </p:embeddedFont>
    <p:embeddedFont>
      <p:font typeface="Yearbook Solid" charset="1" panose="02060503030206020404"/>
      <p:regular r:id="rId21"/>
    </p:embeddedFont>
    <p:embeddedFont>
      <p:font typeface="Chunk Five" charset="1" panose="00000500000000000000"/>
      <p:regular r:id="rId22"/>
    </p:embeddedFont>
    <p:embeddedFont>
      <p:font typeface="Amsterdam Four" charset="1" panose="02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jpeg" Type="http://schemas.openxmlformats.org/officeDocument/2006/relationships/image"/><Relationship Id="rId9" Target="../media/image2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GmGOpNAtA.mp4" Type="http://schemas.microsoft.com/office/2007/relationships/media"/><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7.jpeg" Type="http://schemas.openxmlformats.org/officeDocument/2006/relationships/image"/><Relationship Id="rId9" Target="../media/VAGmGOpNAtA.mp4" Type="http://schemas.openxmlformats.org/officeDocument/2006/relationships/video"/></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GmGGio5k0.mp4" Type="http://schemas.openxmlformats.org/officeDocument/2006/relationships/video"/><Relationship Id="rId11" Target="../media/VAGmGGio5k0.mp4" Type="http://schemas.microsoft.com/office/2007/relationships/media"/><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8.jpeg" Type="http://schemas.openxmlformats.org/officeDocument/2006/relationships/image"/><Relationship Id="rId9" Target="../media/image2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30.jpeg" Type="http://schemas.openxmlformats.org/officeDocument/2006/relationships/image"/><Relationship Id="rId9" Target="../media/image3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69533" y="7182879"/>
            <a:ext cx="5500875" cy="3673252"/>
          </a:xfrm>
          <a:custGeom>
            <a:avLst/>
            <a:gdLst/>
            <a:ahLst/>
            <a:cxnLst/>
            <a:rect r="r" b="b" t="t" l="l"/>
            <a:pathLst>
              <a:path h="3673252" w="5500875">
                <a:moveTo>
                  <a:pt x="0" y="0"/>
                </a:moveTo>
                <a:lnTo>
                  <a:pt x="5500875" y="0"/>
                </a:lnTo>
                <a:lnTo>
                  <a:pt x="5500875" y="3673252"/>
                </a:lnTo>
                <a:lnTo>
                  <a:pt x="0" y="3673252"/>
                </a:lnTo>
                <a:lnTo>
                  <a:pt x="0" y="0"/>
                </a:lnTo>
                <a:close/>
              </a:path>
            </a:pathLst>
          </a:custGeom>
          <a:blipFill>
            <a:blip r:embed="rId2"/>
            <a:stretch>
              <a:fillRect l="0" t="0" r="0" b="0"/>
            </a:stretch>
          </a:blipFill>
        </p:spPr>
      </p:sp>
      <p:sp>
        <p:nvSpPr>
          <p:cNvPr name="Freeform 3" id="3"/>
          <p:cNvSpPr/>
          <p:nvPr/>
        </p:nvSpPr>
        <p:spPr>
          <a:xfrm flipH="false" flipV="false" rot="0">
            <a:off x="6744388" y="0"/>
            <a:ext cx="4799225" cy="6395531"/>
          </a:xfrm>
          <a:custGeom>
            <a:avLst/>
            <a:gdLst/>
            <a:ahLst/>
            <a:cxnLst/>
            <a:rect r="r" b="b" t="t" l="l"/>
            <a:pathLst>
              <a:path h="6395531" w="4799225">
                <a:moveTo>
                  <a:pt x="0" y="0"/>
                </a:moveTo>
                <a:lnTo>
                  <a:pt x="4799224" y="0"/>
                </a:lnTo>
                <a:lnTo>
                  <a:pt x="4799224" y="6395531"/>
                </a:lnTo>
                <a:lnTo>
                  <a:pt x="0" y="6395531"/>
                </a:lnTo>
                <a:lnTo>
                  <a:pt x="0" y="0"/>
                </a:lnTo>
                <a:close/>
              </a:path>
            </a:pathLst>
          </a:custGeom>
          <a:blipFill>
            <a:blip r:embed="rId3"/>
            <a:stretch>
              <a:fillRect l="-40995" t="-111680" r="-302369" b="-121022"/>
            </a:stretch>
          </a:blipFill>
        </p:spPr>
      </p:sp>
      <p:sp>
        <p:nvSpPr>
          <p:cNvPr name="TextBox 4" id="4"/>
          <p:cNvSpPr txBox="true"/>
          <p:nvPr/>
        </p:nvSpPr>
        <p:spPr>
          <a:xfrm rot="0">
            <a:off x="4055418" y="5612668"/>
            <a:ext cx="10177165" cy="2845148"/>
          </a:xfrm>
          <a:prstGeom prst="rect">
            <a:avLst/>
          </a:prstGeom>
        </p:spPr>
        <p:txBody>
          <a:bodyPr anchor="t" rtlCol="false" tIns="0" lIns="0" bIns="0" rIns="0">
            <a:spAutoFit/>
          </a:bodyPr>
          <a:lstStyle/>
          <a:p>
            <a:pPr algn="ctr">
              <a:lnSpc>
                <a:spcPts val="23255"/>
              </a:lnSpc>
            </a:pPr>
            <a:r>
              <a:rPr lang="en-US" sz="16611">
                <a:solidFill>
                  <a:srgbClr val="FFFFFF"/>
                </a:solidFill>
                <a:latin typeface="Della Respira"/>
                <a:ea typeface="Della Respira"/>
                <a:cs typeface="Della Respira"/>
                <a:sym typeface="Della Respira"/>
              </a:rPr>
              <a:t>CURAVO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05908" y="2176145"/>
            <a:ext cx="17633499" cy="5920105"/>
          </a:xfrm>
          <a:prstGeom prst="rect">
            <a:avLst/>
          </a:prstGeom>
        </p:spPr>
        <p:txBody>
          <a:bodyPr anchor="t" rtlCol="false" tIns="0" lIns="0" bIns="0" rIns="0">
            <a:spAutoFit/>
          </a:bodyPr>
          <a:lstStyle/>
          <a:p>
            <a:pPr algn="l">
              <a:lnSpc>
                <a:spcPts val="3919"/>
              </a:lnSpc>
              <a:spcBef>
                <a:spcPct val="0"/>
              </a:spcBef>
            </a:pPr>
            <a:r>
              <a:rPr lang="en-US" b="true" sz="2799">
                <a:solidFill>
                  <a:srgbClr val="FFFFFF"/>
                </a:solidFill>
                <a:latin typeface="Della Respira"/>
                <a:ea typeface="Della Respira"/>
                <a:cs typeface="Della Respira"/>
                <a:sym typeface="Della Respira"/>
              </a:rPr>
              <a:t>1. Inability to Identify the Right Drug: Many patients struggle to accurately determine the appropriate medication for their condition, often resorting to self diagnosis or unreliable sources. This leads to ineffective or even dangerous treatment outcomes. </a:t>
            </a:r>
          </a:p>
          <a:p>
            <a:pPr algn="l">
              <a:lnSpc>
                <a:spcPts val="3919"/>
              </a:lnSpc>
              <a:spcBef>
                <a:spcPct val="0"/>
              </a:spcBef>
            </a:pPr>
            <a:r>
              <a:rPr lang="en-US" b="true" sz="2799">
                <a:solidFill>
                  <a:srgbClr val="FFFFFF"/>
                </a:solidFill>
                <a:latin typeface="Della Respira"/>
                <a:ea typeface="Della Respira"/>
                <a:cs typeface="Della Respira"/>
                <a:sym typeface="Della Respira"/>
              </a:rPr>
              <a:t>2. Limited Emergency Medical Access: During emergencies, patients frequently face delays in locating nearby medical facilities, while slow ambulance response times exacerbate health risks and increase the likelihood of complications</a:t>
            </a:r>
          </a:p>
          <a:p>
            <a:pPr algn="l">
              <a:lnSpc>
                <a:spcPts val="3919"/>
              </a:lnSpc>
              <a:spcBef>
                <a:spcPct val="0"/>
              </a:spcBef>
            </a:pPr>
            <a:r>
              <a:rPr lang="en-US" b="true" sz="2799">
                <a:solidFill>
                  <a:srgbClr val="FFFFFF"/>
                </a:solidFill>
                <a:latin typeface="Della Respira"/>
                <a:ea typeface="Della Respira"/>
                <a:cs typeface="Della Respira"/>
                <a:sym typeface="Della Respira"/>
              </a:rPr>
              <a:t>3. Difficulty in Obtaining Home Nursing Services: Individuals requiring home healthcare such as the elderly, chronic ilness patients, or post-surgery recoverees encounter significant chalenges in securing qualified nursing services, disrupting their care continuity. </a:t>
            </a:r>
          </a:p>
          <a:p>
            <a:pPr algn="l">
              <a:lnSpc>
                <a:spcPts val="3919"/>
              </a:lnSpc>
              <a:spcBef>
                <a:spcPct val="0"/>
              </a:spcBef>
            </a:pPr>
            <a:r>
              <a:rPr lang="en-US" b="true" sz="2799">
                <a:solidFill>
                  <a:srgbClr val="FFFFFF"/>
                </a:solidFill>
                <a:latin typeface="Della Respira"/>
                <a:ea typeface="Della Respira"/>
                <a:cs typeface="Della Respira"/>
                <a:sym typeface="Della Respira"/>
              </a:rPr>
              <a:t>4. Barriers to Buying Medicine: Patients often experience obstacles in accessing essential medications due to pharmacy location constraints, stock shortages, or personal mobility limitations, leaving critical treatments out of reach.</a:t>
            </a:r>
          </a:p>
        </p:txBody>
      </p:sp>
      <p:sp>
        <p:nvSpPr>
          <p:cNvPr name="Freeform 5" id="5"/>
          <p:cNvSpPr/>
          <p:nvPr/>
        </p:nvSpPr>
        <p:spPr>
          <a:xfrm flipH="false" flipV="false" rot="0">
            <a:off x="702330" y="571145"/>
            <a:ext cx="1151544" cy="1151544"/>
          </a:xfrm>
          <a:custGeom>
            <a:avLst/>
            <a:gdLst/>
            <a:ahLst/>
            <a:cxnLst/>
            <a:rect r="r" b="b" t="t" l="l"/>
            <a:pathLst>
              <a:path h="1151544" w="1151544">
                <a:moveTo>
                  <a:pt x="0" y="0"/>
                </a:moveTo>
                <a:lnTo>
                  <a:pt x="1151544" y="0"/>
                </a:lnTo>
                <a:lnTo>
                  <a:pt x="1151544" y="1151543"/>
                </a:lnTo>
                <a:lnTo>
                  <a:pt x="0" y="11515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179528" y="655744"/>
            <a:ext cx="6943130"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Problem Statments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3775093" y="750994"/>
            <a:ext cx="10695129" cy="8400538"/>
          </a:xfrm>
          <a:custGeom>
            <a:avLst/>
            <a:gdLst/>
            <a:ahLst/>
            <a:cxnLst/>
            <a:rect r="r" b="b" t="t" l="l"/>
            <a:pathLst>
              <a:path h="8400538" w="10695129">
                <a:moveTo>
                  <a:pt x="0" y="0"/>
                </a:moveTo>
                <a:lnTo>
                  <a:pt x="10695129" y="0"/>
                </a:lnTo>
                <a:lnTo>
                  <a:pt x="10695129" y="8400537"/>
                </a:lnTo>
                <a:lnTo>
                  <a:pt x="0" y="8400537"/>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4300" y="2281723"/>
            <a:ext cx="13342943" cy="4929505"/>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Della Respira"/>
                <a:ea typeface="Della Respira"/>
                <a:cs typeface="Della Respira"/>
                <a:sym typeface="Della Respira"/>
              </a:rPr>
              <a:t>1.</a:t>
            </a:r>
            <a:r>
              <a:rPr lang="en-US" sz="2799">
                <a:solidFill>
                  <a:srgbClr val="FFFFFF"/>
                </a:solidFill>
                <a:latin typeface="Della Respira"/>
                <a:ea typeface="Della Respira"/>
                <a:cs typeface="Della Respira"/>
                <a:sym typeface="Della Respira"/>
              </a:rPr>
              <a:t> P</a:t>
            </a:r>
            <a:r>
              <a:rPr lang="en-US" b="true" sz="2799">
                <a:solidFill>
                  <a:srgbClr val="FFFFFF"/>
                </a:solidFill>
                <a:latin typeface="Della Respira"/>
                <a:ea typeface="Della Respira"/>
                <a:cs typeface="Della Respira"/>
                <a:sym typeface="Della Respira"/>
              </a:rPr>
              <a:t>atient interface: a mobile application that defines the problem of </a:t>
            </a:r>
            <a:r>
              <a:rPr lang="en-US" sz="2799">
                <a:solidFill>
                  <a:srgbClr val="FFFFFF"/>
                </a:solidFill>
                <a:latin typeface="Della Respira"/>
                <a:ea typeface="Della Respira"/>
                <a:cs typeface="Della Respira"/>
                <a:sym typeface="Della Respira"/>
              </a:rPr>
              <a:t>the patient by knowing his symptoms, an ass</a:t>
            </a:r>
            <a:r>
              <a:rPr lang="en-US" b="true" sz="2799">
                <a:solidFill>
                  <a:srgbClr val="FFFFFF"/>
                </a:solidFill>
                <a:latin typeface="Della Respira"/>
                <a:ea typeface="Della Respira"/>
                <a:cs typeface="Della Respira"/>
                <a:sym typeface="Della Respira"/>
              </a:rPr>
              <a:t>istant that you can request a nurse to care with the patient from the App, and an emergency alert. </a:t>
            </a:r>
          </a:p>
          <a:p>
            <a:pPr algn="l">
              <a:lnSpc>
                <a:spcPts val="3919"/>
              </a:lnSpc>
              <a:spcBef>
                <a:spcPct val="0"/>
              </a:spcBef>
            </a:pPr>
          </a:p>
          <a:p>
            <a:pPr algn="l">
              <a:lnSpc>
                <a:spcPts val="3919"/>
              </a:lnSpc>
              <a:spcBef>
                <a:spcPct val="0"/>
              </a:spcBef>
            </a:pPr>
            <a:r>
              <a:rPr lang="en-US" b="true" sz="2799">
                <a:solidFill>
                  <a:srgbClr val="FFFFFF"/>
                </a:solidFill>
                <a:latin typeface="Della Respira"/>
                <a:ea typeface="Della Respira"/>
                <a:cs typeface="Della Respira"/>
                <a:sym typeface="Della Respira"/>
              </a:rPr>
              <a:t>2. A</a:t>
            </a:r>
            <a:r>
              <a:rPr lang="en-US" sz="2799">
                <a:solidFill>
                  <a:srgbClr val="FFFFFF"/>
                </a:solidFill>
                <a:latin typeface="Della Respira"/>
                <a:ea typeface="Della Respira"/>
                <a:cs typeface="Della Respira"/>
                <a:sym typeface="Della Respira"/>
              </a:rPr>
              <a:t>I Engine: that AI analyzes d</a:t>
            </a:r>
            <a:r>
              <a:rPr lang="en-US" b="true" sz="2799">
                <a:solidFill>
                  <a:srgbClr val="FFFFFF"/>
                </a:solidFill>
                <a:latin typeface="Della Respira"/>
                <a:ea typeface="Della Respira"/>
                <a:cs typeface="Della Respira"/>
                <a:sym typeface="Della Respira"/>
              </a:rPr>
              <a:t>ata of patient symptoms, then gives him the result and the problem with the treatment algorithm recommendation. </a:t>
            </a:r>
          </a:p>
          <a:p>
            <a:pPr algn="l">
              <a:lnSpc>
                <a:spcPts val="3919"/>
              </a:lnSpc>
              <a:spcBef>
                <a:spcPct val="0"/>
              </a:spcBef>
            </a:pPr>
          </a:p>
          <a:p>
            <a:pPr algn="l">
              <a:lnSpc>
                <a:spcPts val="3919"/>
              </a:lnSpc>
              <a:spcBef>
                <a:spcPct val="0"/>
              </a:spcBef>
            </a:pPr>
            <a:r>
              <a:rPr lang="en-US" b="true" sz="2799">
                <a:solidFill>
                  <a:srgbClr val="FFFFFF"/>
                </a:solidFill>
                <a:latin typeface="Della Respira"/>
                <a:ea typeface="Della Respira"/>
                <a:cs typeface="Della Respira"/>
                <a:sym typeface="Della Respira"/>
              </a:rPr>
              <a:t>3. Health care provider network: so that you can know your problem from your home AI analysis data to give you your drug, our application wil be connected with a famous pharmacy to deliver your drug</a:t>
            </a:r>
          </a:p>
        </p:txBody>
      </p:sp>
      <p:sp>
        <p:nvSpPr>
          <p:cNvPr name="Freeform 4" id="4"/>
          <p:cNvSpPr/>
          <p:nvPr/>
        </p:nvSpPr>
        <p:spPr>
          <a:xfrm flipH="false" flipV="false" rot="0">
            <a:off x="5398392" y="300975"/>
            <a:ext cx="1188751" cy="1188751"/>
          </a:xfrm>
          <a:custGeom>
            <a:avLst/>
            <a:gdLst/>
            <a:ahLst/>
            <a:cxnLst/>
            <a:rect r="r" b="b" t="t" l="l"/>
            <a:pathLst>
              <a:path h="1188751" w="1188751">
                <a:moveTo>
                  <a:pt x="0" y="0"/>
                </a:moveTo>
                <a:lnTo>
                  <a:pt x="1188751" y="0"/>
                </a:lnTo>
                <a:lnTo>
                  <a:pt x="1188751" y="1188750"/>
                </a:lnTo>
                <a:lnTo>
                  <a:pt x="0" y="1188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065145" y="3982049"/>
            <a:ext cx="5043960" cy="6304951"/>
          </a:xfrm>
          <a:custGeom>
            <a:avLst/>
            <a:gdLst/>
            <a:ahLst/>
            <a:cxnLst/>
            <a:rect r="r" b="b" t="t" l="l"/>
            <a:pathLst>
              <a:path h="6304951" w="5043960">
                <a:moveTo>
                  <a:pt x="0" y="0"/>
                </a:moveTo>
                <a:lnTo>
                  <a:pt x="5043960" y="0"/>
                </a:lnTo>
                <a:lnTo>
                  <a:pt x="5043960" y="6304951"/>
                </a:lnTo>
                <a:lnTo>
                  <a:pt x="0" y="63049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6798185" y="537527"/>
            <a:ext cx="6749058"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High level solution</a:t>
            </a:r>
          </a:p>
        </p:txBody>
      </p:sp>
      <p:sp>
        <p:nvSpPr>
          <p:cNvPr name="Freeform 7" id="7"/>
          <p:cNvSpPr/>
          <p:nvPr/>
        </p:nvSpPr>
        <p:spPr>
          <a:xfrm flipH="false" flipV="false" rot="0">
            <a:off x="-76949" y="7792116"/>
            <a:ext cx="3852042" cy="2932367"/>
          </a:xfrm>
          <a:custGeom>
            <a:avLst/>
            <a:gdLst/>
            <a:ahLst/>
            <a:cxnLst/>
            <a:rect r="r" b="b" t="t" l="l"/>
            <a:pathLst>
              <a:path h="2932367" w="3852042">
                <a:moveTo>
                  <a:pt x="0" y="0"/>
                </a:moveTo>
                <a:lnTo>
                  <a:pt x="3852042" y="0"/>
                </a:lnTo>
                <a:lnTo>
                  <a:pt x="3852042" y="2932368"/>
                </a:lnTo>
                <a:lnTo>
                  <a:pt x="0" y="2932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3775093" y="750994"/>
            <a:ext cx="10695129" cy="8400538"/>
          </a:xfrm>
          <a:custGeom>
            <a:avLst/>
            <a:gdLst/>
            <a:ahLst/>
            <a:cxnLst/>
            <a:rect r="r" b="b" t="t" l="l"/>
            <a:pathLst>
              <a:path h="8400538" w="10695129">
                <a:moveTo>
                  <a:pt x="0" y="0"/>
                </a:moveTo>
                <a:lnTo>
                  <a:pt x="10695129" y="0"/>
                </a:lnTo>
                <a:lnTo>
                  <a:pt x="10695129" y="8400537"/>
                </a:lnTo>
                <a:lnTo>
                  <a:pt x="0" y="8400537"/>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27250" y="1482301"/>
            <a:ext cx="17633499" cy="8396605"/>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Della Respira"/>
                <a:ea typeface="Della Respira"/>
                <a:cs typeface="Della Respira"/>
                <a:sym typeface="Della Respira"/>
              </a:rPr>
              <a:t> 1.AI/ML</a:t>
            </a:r>
            <a:r>
              <a:rPr lang="en-US" sz="2799">
                <a:solidFill>
                  <a:srgbClr val="FFFFFF"/>
                </a:solidFill>
                <a:latin typeface="Della Respira"/>
                <a:ea typeface="Della Respira"/>
                <a:cs typeface="Della Respira"/>
                <a:sym typeface="Della Respira"/>
              </a:rPr>
              <a:t> Engine: NLP:</a:t>
            </a:r>
            <a:r>
              <a:rPr lang="en-US" b="true" sz="2799">
                <a:solidFill>
                  <a:srgbClr val="FFFFFF"/>
                </a:solidFill>
                <a:latin typeface="Della Respira"/>
                <a:ea typeface="Della Respira"/>
                <a:cs typeface="Della Respira"/>
                <a:sym typeface="Della Respira"/>
              </a:rPr>
              <a:t> </a:t>
            </a:r>
          </a:p>
          <a:p>
            <a:pPr algn="l">
              <a:lnSpc>
                <a:spcPts val="3919"/>
              </a:lnSpc>
              <a:spcBef>
                <a:spcPct val="0"/>
              </a:spcBef>
            </a:pPr>
            <a:r>
              <a:rPr lang="en-US" b="true" sz="2799">
                <a:solidFill>
                  <a:srgbClr val="FFFFFF"/>
                </a:solidFill>
                <a:latin typeface="Della Respira"/>
                <a:ea typeface="Della Respira"/>
                <a:cs typeface="Della Respira"/>
                <a:sym typeface="Della Respira"/>
              </a:rPr>
              <a:t>BERT/Med-BERT for symptom analysis. Predictive Models: XGBoost for Risk Stratification. </a:t>
            </a:r>
          </a:p>
          <a:p>
            <a:pPr algn="l">
              <a:lnSpc>
                <a:spcPts val="3919"/>
              </a:lnSpc>
              <a:spcBef>
                <a:spcPct val="0"/>
              </a:spcBef>
            </a:pPr>
            <a:r>
              <a:rPr lang="en-US" b="true" sz="2799">
                <a:solidFill>
                  <a:srgbClr val="FFFFFF"/>
                </a:solidFill>
                <a:latin typeface="Della Respira"/>
                <a:ea typeface="Della Respira"/>
                <a:cs typeface="Della Respira"/>
                <a:sym typeface="Della Respira"/>
              </a:rPr>
              <a:t>Computer Vision: CNN-based medical imaging (future phase) </a:t>
            </a:r>
          </a:p>
          <a:p>
            <a:pPr algn="l">
              <a:lnSpc>
                <a:spcPts val="3919"/>
              </a:lnSpc>
              <a:spcBef>
                <a:spcPct val="0"/>
              </a:spcBef>
            </a:pPr>
            <a:r>
              <a:rPr lang="en-US" b="true" sz="2799">
                <a:solidFill>
                  <a:srgbClr val="FFFFFF"/>
                </a:solidFill>
                <a:latin typeface="Della Respira"/>
                <a:ea typeface="Della Respira"/>
                <a:cs typeface="Della Respira"/>
                <a:sym typeface="Della Respira"/>
              </a:rPr>
              <a:t>2.Mobile Platform: </a:t>
            </a:r>
          </a:p>
          <a:p>
            <a:pPr algn="l">
              <a:lnSpc>
                <a:spcPts val="3919"/>
              </a:lnSpc>
              <a:spcBef>
                <a:spcPct val="0"/>
              </a:spcBef>
            </a:pPr>
            <a:r>
              <a:rPr lang="en-US" b="true" sz="2799">
                <a:solidFill>
                  <a:srgbClr val="FFFFFF"/>
                </a:solidFill>
                <a:latin typeface="Della Respira"/>
                <a:ea typeface="Della Respira"/>
                <a:cs typeface="Della Respira"/>
                <a:sym typeface="Della Respira"/>
              </a:rPr>
              <a:t>Fl</a:t>
            </a:r>
            <a:r>
              <a:rPr lang="en-US" sz="2799">
                <a:solidFill>
                  <a:srgbClr val="FFFFFF"/>
                </a:solidFill>
                <a:latin typeface="Della Respira"/>
                <a:ea typeface="Della Respira"/>
                <a:cs typeface="Della Respira"/>
                <a:sym typeface="Della Respira"/>
              </a:rPr>
              <a:t>utter (cross-platform app)</a:t>
            </a:r>
            <a:r>
              <a:rPr lang="en-US" b="true" sz="2799">
                <a:solidFill>
                  <a:srgbClr val="FFFFFF"/>
                </a:solidFill>
                <a:latin typeface="Della Respira"/>
                <a:ea typeface="Della Respira"/>
                <a:cs typeface="Della Respira"/>
                <a:sym typeface="Della Respira"/>
              </a:rPr>
              <a:t>.Firebase Auth and Secure Storage. Google Maps API for service location </a:t>
            </a:r>
          </a:p>
          <a:p>
            <a:pPr algn="l">
              <a:lnSpc>
                <a:spcPts val="3919"/>
              </a:lnSpc>
              <a:spcBef>
                <a:spcPct val="0"/>
              </a:spcBef>
            </a:pPr>
            <a:r>
              <a:rPr lang="en-US" b="true" sz="2799">
                <a:solidFill>
                  <a:srgbClr val="FFFFFF"/>
                </a:solidFill>
                <a:latin typeface="Della Respira"/>
                <a:ea typeface="Della Respira"/>
                <a:cs typeface="Della Respira"/>
                <a:sym typeface="Della Respira"/>
              </a:rPr>
              <a:t>3.Backend: </a:t>
            </a:r>
          </a:p>
          <a:p>
            <a:pPr algn="l">
              <a:lnSpc>
                <a:spcPts val="3919"/>
              </a:lnSpc>
              <a:spcBef>
                <a:spcPct val="0"/>
              </a:spcBef>
            </a:pPr>
            <a:r>
              <a:rPr lang="en-US" b="true" sz="2799">
                <a:solidFill>
                  <a:srgbClr val="FFFFFF"/>
                </a:solidFill>
                <a:latin typeface="Della Respira"/>
                <a:ea typeface="Della Respira"/>
                <a:cs typeface="Della Respira"/>
                <a:sym typeface="Della Respira"/>
              </a:rPr>
              <a:t>Node.js/Python microservices.HL7 FHIR for healthcare data standards. HIPAA-compliant AWS infrastructure (EC2, RDS) </a:t>
            </a:r>
          </a:p>
          <a:p>
            <a:pPr algn="l">
              <a:lnSpc>
                <a:spcPts val="3919"/>
              </a:lnSpc>
              <a:spcBef>
                <a:spcPct val="0"/>
              </a:spcBef>
            </a:pPr>
            <a:r>
              <a:rPr lang="en-US" sz="2799">
                <a:solidFill>
                  <a:srgbClr val="FFFFFF"/>
                </a:solidFill>
                <a:latin typeface="Chunk Five"/>
                <a:ea typeface="Chunk Five"/>
                <a:cs typeface="Chunk Five"/>
                <a:sym typeface="Chunk Five"/>
              </a:rPr>
              <a:t>Integration and Specialized Tools Used </a:t>
            </a:r>
          </a:p>
          <a:p>
            <a:pPr algn="l">
              <a:lnSpc>
                <a:spcPts val="3919"/>
              </a:lnSpc>
              <a:spcBef>
                <a:spcPct val="0"/>
              </a:spcBef>
            </a:pPr>
            <a:r>
              <a:rPr lang="en-US" b="true" sz="2799">
                <a:solidFill>
                  <a:srgbClr val="FFFFFF"/>
                </a:solidFill>
                <a:latin typeface="Della Respira"/>
                <a:ea typeface="Della Respira"/>
                <a:cs typeface="Della Respira"/>
                <a:sym typeface="Della Respira"/>
              </a:rPr>
              <a:t>1.Healthcare Interoperability: </a:t>
            </a:r>
          </a:p>
          <a:p>
            <a:pPr algn="l">
              <a:lnSpc>
                <a:spcPts val="3919"/>
              </a:lnSpc>
              <a:spcBef>
                <a:spcPct val="0"/>
              </a:spcBef>
            </a:pPr>
            <a:r>
              <a:rPr lang="en-US" b="true" sz="2799">
                <a:solidFill>
                  <a:srgbClr val="FFFFFF"/>
                </a:solidFill>
                <a:latin typeface="Della Respira"/>
                <a:ea typeface="Della Respira"/>
                <a:cs typeface="Della Respira"/>
                <a:sym typeface="Della Respira"/>
              </a:rPr>
              <a:t>Redox Engine for EHR integration. Apple Health Kit/Google Fit sync.Twilio API for emergency alerts 2.Operational Tools: </a:t>
            </a:r>
          </a:p>
          <a:p>
            <a:pPr algn="l">
              <a:lnSpc>
                <a:spcPts val="3919"/>
              </a:lnSpc>
              <a:spcBef>
                <a:spcPct val="0"/>
              </a:spcBef>
            </a:pPr>
            <a:r>
              <a:rPr lang="en-US" b="true" sz="2799">
                <a:solidFill>
                  <a:srgbClr val="FFFFFF"/>
                </a:solidFill>
                <a:latin typeface="Della Respira"/>
                <a:ea typeface="Della Respira"/>
                <a:cs typeface="Della Respira"/>
                <a:sym typeface="Della Respira"/>
              </a:rPr>
              <a:t>Docker/Kubernetes for containerization. TensorFlow Serving for model deployment .</a:t>
            </a:r>
          </a:p>
          <a:p>
            <a:pPr algn="l">
              <a:lnSpc>
                <a:spcPts val="3919"/>
              </a:lnSpc>
              <a:spcBef>
                <a:spcPct val="0"/>
              </a:spcBef>
            </a:pPr>
            <a:r>
              <a:rPr lang="en-US" b="true" sz="2799">
                <a:solidFill>
                  <a:srgbClr val="FFFFFF"/>
                </a:solidFill>
                <a:latin typeface="Della Respira"/>
                <a:ea typeface="Della Respira"/>
                <a:cs typeface="Della Respira"/>
                <a:sym typeface="Della Respira"/>
              </a:rPr>
              <a:t>Tableau for admin analytics dashboards </a:t>
            </a:r>
          </a:p>
          <a:p>
            <a:pPr algn="l">
              <a:lnSpc>
                <a:spcPts val="3919"/>
              </a:lnSpc>
              <a:spcBef>
                <a:spcPct val="0"/>
              </a:spcBef>
            </a:pPr>
            <a:r>
              <a:rPr lang="en-US" b="true" sz="2799">
                <a:solidFill>
                  <a:srgbClr val="FFFFFF"/>
                </a:solidFill>
                <a:latin typeface="Della Respira"/>
                <a:ea typeface="Della Respira"/>
                <a:cs typeface="Della Respira"/>
                <a:sym typeface="Della Respira"/>
              </a:rPr>
              <a:t>3.Security: </a:t>
            </a:r>
          </a:p>
          <a:p>
            <a:pPr algn="l">
              <a:lnSpc>
                <a:spcPts val="3919"/>
              </a:lnSpc>
              <a:spcBef>
                <a:spcPct val="0"/>
              </a:spcBef>
            </a:pPr>
            <a:r>
              <a:rPr lang="en-US" b="true" sz="2799">
                <a:solidFill>
                  <a:srgbClr val="FFFFFF"/>
                </a:solidFill>
                <a:latin typeface="Della Respira"/>
                <a:ea typeface="Della Respira"/>
                <a:cs typeface="Della Respira"/>
                <a:sym typeface="Della Respira"/>
              </a:rPr>
              <a:t>Blockchain-based audit trail (Hyperledger Fabric). End-to-end encryption (OpenSSL) .</a:t>
            </a:r>
          </a:p>
          <a:p>
            <a:pPr algn="l">
              <a:lnSpc>
                <a:spcPts val="3919"/>
              </a:lnSpc>
              <a:spcBef>
                <a:spcPct val="0"/>
              </a:spcBef>
            </a:pPr>
            <a:r>
              <a:rPr lang="en-US" b="true" sz="2799">
                <a:solidFill>
                  <a:srgbClr val="FFFFFF"/>
                </a:solidFill>
                <a:latin typeface="Della Respira"/>
                <a:ea typeface="Della Respira"/>
                <a:cs typeface="Della Respira"/>
                <a:sym typeface="Della Respira"/>
              </a:rPr>
              <a:t>Biometric authentication (Android/iOS native APIs)</a:t>
            </a:r>
          </a:p>
        </p:txBody>
      </p:sp>
      <p:sp>
        <p:nvSpPr>
          <p:cNvPr name="Freeform 4" id="4"/>
          <p:cNvSpPr/>
          <p:nvPr/>
        </p:nvSpPr>
        <p:spPr>
          <a:xfrm flipH="false" flipV="false" rot="0">
            <a:off x="5798932" y="527474"/>
            <a:ext cx="1047354" cy="1002452"/>
          </a:xfrm>
          <a:custGeom>
            <a:avLst/>
            <a:gdLst/>
            <a:ahLst/>
            <a:cxnLst/>
            <a:rect r="r" b="b" t="t" l="l"/>
            <a:pathLst>
              <a:path h="1002452" w="1047354">
                <a:moveTo>
                  <a:pt x="0" y="0"/>
                </a:moveTo>
                <a:lnTo>
                  <a:pt x="1047355" y="0"/>
                </a:lnTo>
                <a:lnTo>
                  <a:pt x="1047355" y="1002452"/>
                </a:lnTo>
                <a:lnTo>
                  <a:pt x="0" y="1002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049309" y="7890213"/>
            <a:ext cx="4238691" cy="2396787"/>
          </a:xfrm>
          <a:custGeom>
            <a:avLst/>
            <a:gdLst/>
            <a:ahLst/>
            <a:cxnLst/>
            <a:rect r="r" b="b" t="t" l="l"/>
            <a:pathLst>
              <a:path h="2396787" w="4238691">
                <a:moveTo>
                  <a:pt x="0" y="0"/>
                </a:moveTo>
                <a:lnTo>
                  <a:pt x="4238691" y="0"/>
                </a:lnTo>
                <a:lnTo>
                  <a:pt x="4238691" y="2396787"/>
                </a:lnTo>
                <a:lnTo>
                  <a:pt x="0" y="23967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067190" y="537527"/>
            <a:ext cx="6161931"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Technologies Used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3775093" y="750994"/>
            <a:ext cx="10695129" cy="8400538"/>
          </a:xfrm>
          <a:custGeom>
            <a:avLst/>
            <a:gdLst/>
            <a:ahLst/>
            <a:cxnLst/>
            <a:rect r="r" b="b" t="t" l="l"/>
            <a:pathLst>
              <a:path h="8400538" w="10695129">
                <a:moveTo>
                  <a:pt x="0" y="0"/>
                </a:moveTo>
                <a:lnTo>
                  <a:pt x="10695129" y="0"/>
                </a:lnTo>
                <a:lnTo>
                  <a:pt x="10695129" y="8400537"/>
                </a:lnTo>
                <a:lnTo>
                  <a:pt x="0" y="8400537"/>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4300" y="2745450"/>
            <a:ext cx="13342943" cy="4060190"/>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Chunk Five"/>
                <a:ea typeface="Chunk Five"/>
                <a:cs typeface="Chunk Five"/>
                <a:sym typeface="Chunk Five"/>
              </a:rPr>
              <a:t>Phase 1 </a:t>
            </a:r>
          </a:p>
          <a:p>
            <a:pPr algn="l">
              <a:lnSpc>
                <a:spcPts val="3919"/>
              </a:lnSpc>
              <a:spcBef>
                <a:spcPct val="0"/>
              </a:spcBef>
            </a:pPr>
            <a:r>
              <a:rPr lang="en-US" b="true" sz="2799">
                <a:solidFill>
                  <a:srgbClr val="FFFFFF"/>
                </a:solidFill>
                <a:latin typeface="Della Respira"/>
                <a:ea typeface="Della Respira"/>
                <a:cs typeface="Della Respira"/>
                <a:sym typeface="Della Respira"/>
              </a:rPr>
              <a:t>( we make a small model training AI in one mon</a:t>
            </a:r>
            <a:r>
              <a:rPr lang="en-US" sz="2799">
                <a:solidFill>
                  <a:srgbClr val="FFFFFF"/>
                </a:solidFill>
                <a:latin typeface="Della Respira"/>
                <a:ea typeface="Della Respira"/>
                <a:cs typeface="Della Respira"/>
                <a:sym typeface="Della Respira"/>
              </a:rPr>
              <a:t>th, but we work to improve </a:t>
            </a:r>
            <a:r>
              <a:rPr lang="en-US" b="true" sz="2799">
                <a:solidFill>
                  <a:srgbClr val="FFFFFF"/>
                </a:solidFill>
                <a:latin typeface="Della Respira"/>
                <a:ea typeface="Della Respira"/>
                <a:cs typeface="Della Respira"/>
                <a:sym typeface="Della Respira"/>
              </a:rPr>
              <a:t>it to know more about the symptoms of patients ) ·</a:t>
            </a:r>
          </a:p>
          <a:p>
            <a:pPr algn="l">
              <a:lnSpc>
                <a:spcPts val="3919"/>
              </a:lnSpc>
              <a:spcBef>
                <a:spcPct val="0"/>
              </a:spcBef>
            </a:pPr>
            <a:r>
              <a:rPr lang="en-US" b="true" sz="2799">
                <a:solidFill>
                  <a:srgbClr val="FFFFFF"/>
                </a:solidFill>
                <a:latin typeface="Della Respira"/>
                <a:ea typeface="Della Respira"/>
                <a:cs typeface="Della Respira"/>
                <a:sym typeface="Della Respira"/>
              </a:rPr>
              <a:t>AI developme</a:t>
            </a:r>
            <a:r>
              <a:rPr lang="en-US" sz="2799">
                <a:solidFill>
                  <a:srgbClr val="FFFFFF"/>
                </a:solidFill>
                <a:latin typeface="Della Respira"/>
                <a:ea typeface="Della Respira"/>
                <a:cs typeface="Della Respira"/>
                <a:sym typeface="Della Respira"/>
              </a:rPr>
              <a:t>nt and </a:t>
            </a:r>
            <a:r>
              <a:rPr lang="en-US" b="true" sz="2799">
                <a:solidFill>
                  <a:srgbClr val="FFFFFF"/>
                </a:solidFill>
                <a:latin typeface="Della Respira"/>
                <a:ea typeface="Della Respira"/>
                <a:cs typeface="Della Respira"/>
                <a:sym typeface="Della Respira"/>
              </a:rPr>
              <a:t>training. Patient app key challenge: the privacy of medical data. </a:t>
            </a:r>
          </a:p>
          <a:p>
            <a:pPr algn="l">
              <a:lnSpc>
                <a:spcPts val="3919"/>
              </a:lnSpc>
              <a:spcBef>
                <a:spcPct val="0"/>
              </a:spcBef>
            </a:pPr>
          </a:p>
          <a:p>
            <a:pPr algn="l">
              <a:lnSpc>
                <a:spcPts val="4199"/>
              </a:lnSpc>
              <a:spcBef>
                <a:spcPct val="0"/>
              </a:spcBef>
            </a:pPr>
            <a:r>
              <a:rPr lang="en-US" sz="2999">
                <a:solidFill>
                  <a:srgbClr val="FFFFFF"/>
                </a:solidFill>
                <a:latin typeface="Chunk Five"/>
                <a:ea typeface="Chunk Five"/>
                <a:cs typeface="Chunk Five"/>
                <a:sym typeface="Chunk Five"/>
              </a:rPr>
              <a:t>Phase 2 </a:t>
            </a:r>
          </a:p>
          <a:p>
            <a:pPr algn="l">
              <a:lnSpc>
                <a:spcPts val="3919"/>
              </a:lnSpc>
              <a:spcBef>
                <a:spcPct val="0"/>
              </a:spcBef>
            </a:pPr>
            <a:r>
              <a:rPr lang="en-US" b="true" sz="2799">
                <a:solidFill>
                  <a:srgbClr val="FFFFFF"/>
                </a:solidFill>
                <a:latin typeface="Della Respira"/>
                <a:ea typeface="Della Respira"/>
                <a:cs typeface="Della Respira"/>
                <a:sym typeface="Della Respira"/>
              </a:rPr>
              <a:t>(1 month to 2 months ) ·Provider network ·Testing the accuracy of diagnostic Key chalenge: Physician adoption resistance </a:t>
            </a:r>
          </a:p>
        </p:txBody>
      </p:sp>
      <p:sp>
        <p:nvSpPr>
          <p:cNvPr name="Freeform 4" id="4"/>
          <p:cNvSpPr/>
          <p:nvPr/>
        </p:nvSpPr>
        <p:spPr>
          <a:xfrm flipH="false" flipV="false" rot="0">
            <a:off x="13065145" y="3982049"/>
            <a:ext cx="5043960" cy="6304951"/>
          </a:xfrm>
          <a:custGeom>
            <a:avLst/>
            <a:gdLst/>
            <a:ahLst/>
            <a:cxnLst/>
            <a:rect r="r" b="b" t="t" l="l"/>
            <a:pathLst>
              <a:path h="6304951" w="5043960">
                <a:moveTo>
                  <a:pt x="0" y="0"/>
                </a:moveTo>
                <a:lnTo>
                  <a:pt x="5043960" y="0"/>
                </a:lnTo>
                <a:lnTo>
                  <a:pt x="5043960" y="6304951"/>
                </a:lnTo>
                <a:lnTo>
                  <a:pt x="0" y="63049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724545" y="668416"/>
            <a:ext cx="1056141" cy="1123554"/>
          </a:xfrm>
          <a:custGeom>
            <a:avLst/>
            <a:gdLst/>
            <a:ahLst/>
            <a:cxnLst/>
            <a:rect r="r" b="b" t="t" l="l"/>
            <a:pathLst>
              <a:path h="1123554" w="1056141">
                <a:moveTo>
                  <a:pt x="0" y="0"/>
                </a:moveTo>
                <a:lnTo>
                  <a:pt x="1056140" y="0"/>
                </a:lnTo>
                <a:lnTo>
                  <a:pt x="1056140" y="1123554"/>
                </a:lnTo>
                <a:lnTo>
                  <a:pt x="0" y="11235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6949" y="7792116"/>
            <a:ext cx="3852042" cy="2932367"/>
          </a:xfrm>
          <a:custGeom>
            <a:avLst/>
            <a:gdLst/>
            <a:ahLst/>
            <a:cxnLst/>
            <a:rect r="r" b="b" t="t" l="l"/>
            <a:pathLst>
              <a:path h="2932367" w="3852042">
                <a:moveTo>
                  <a:pt x="0" y="0"/>
                </a:moveTo>
                <a:lnTo>
                  <a:pt x="3852042" y="0"/>
                </a:lnTo>
                <a:lnTo>
                  <a:pt x="3852042" y="2932368"/>
                </a:lnTo>
                <a:lnTo>
                  <a:pt x="0" y="2932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6088032" y="767596"/>
            <a:ext cx="7986564"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Development road map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2033" y="497563"/>
            <a:ext cx="1298707" cy="1298707"/>
          </a:xfrm>
          <a:custGeom>
            <a:avLst/>
            <a:gdLst/>
            <a:ahLst/>
            <a:cxnLst/>
            <a:rect r="r" b="b" t="t" l="l"/>
            <a:pathLst>
              <a:path h="1298707" w="1298707">
                <a:moveTo>
                  <a:pt x="0" y="0"/>
                </a:moveTo>
                <a:lnTo>
                  <a:pt x="1298707" y="0"/>
                </a:lnTo>
                <a:lnTo>
                  <a:pt x="1298707" y="1298707"/>
                </a:lnTo>
                <a:lnTo>
                  <a:pt x="0" y="12987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868528" y="2286184"/>
            <a:ext cx="4072412" cy="7610947"/>
          </a:xfrm>
          <a:custGeom>
            <a:avLst/>
            <a:gdLst/>
            <a:ahLst/>
            <a:cxnLst/>
            <a:rect r="r" b="b" t="t" l="l"/>
            <a:pathLst>
              <a:path h="7610947" w="4072412">
                <a:moveTo>
                  <a:pt x="0" y="0"/>
                </a:moveTo>
                <a:lnTo>
                  <a:pt x="4072412" y="0"/>
                </a:lnTo>
                <a:lnTo>
                  <a:pt x="4072412" y="7610947"/>
                </a:lnTo>
                <a:lnTo>
                  <a:pt x="0" y="7610947"/>
                </a:lnTo>
                <a:lnTo>
                  <a:pt x="0" y="0"/>
                </a:lnTo>
                <a:close/>
              </a:path>
            </a:pathLst>
          </a:custGeom>
          <a:blipFill>
            <a:blip r:embed="rId8"/>
            <a:stretch>
              <a:fillRect l="0" t="-6557" r="0" b="-994"/>
            </a:stretch>
          </a:blipFill>
        </p:spPr>
      </p:sp>
      <p:sp>
        <p:nvSpPr>
          <p:cNvPr name="Freeform 6" id="6"/>
          <p:cNvSpPr/>
          <p:nvPr/>
        </p:nvSpPr>
        <p:spPr>
          <a:xfrm flipH="false" flipV="false" rot="0">
            <a:off x="13436240" y="2286184"/>
            <a:ext cx="4032357" cy="7610947"/>
          </a:xfrm>
          <a:custGeom>
            <a:avLst/>
            <a:gdLst/>
            <a:ahLst/>
            <a:cxnLst/>
            <a:rect r="r" b="b" t="t" l="l"/>
            <a:pathLst>
              <a:path h="7610947" w="4032357">
                <a:moveTo>
                  <a:pt x="0" y="0"/>
                </a:moveTo>
                <a:lnTo>
                  <a:pt x="4032356" y="0"/>
                </a:lnTo>
                <a:lnTo>
                  <a:pt x="4032356" y="7610947"/>
                </a:lnTo>
                <a:lnTo>
                  <a:pt x="0" y="7610947"/>
                </a:lnTo>
                <a:lnTo>
                  <a:pt x="0" y="0"/>
                </a:lnTo>
                <a:close/>
              </a:path>
            </a:pathLst>
          </a:custGeom>
          <a:blipFill>
            <a:blip r:embed="rId9"/>
            <a:stretch>
              <a:fillRect l="0" t="-6943" r="0" b="0"/>
            </a:stretch>
          </a:blipFill>
        </p:spPr>
      </p:sp>
      <p:sp>
        <p:nvSpPr>
          <p:cNvPr name="TextBox 7" id="7"/>
          <p:cNvSpPr txBox="true"/>
          <p:nvPr/>
        </p:nvSpPr>
        <p:spPr>
          <a:xfrm rot="0">
            <a:off x="305908" y="2957524"/>
            <a:ext cx="8069410" cy="3443605"/>
          </a:xfrm>
          <a:prstGeom prst="rect">
            <a:avLst/>
          </a:prstGeom>
        </p:spPr>
        <p:txBody>
          <a:bodyPr anchor="t" rtlCol="false" tIns="0" lIns="0" bIns="0" rIns="0">
            <a:spAutoFit/>
          </a:bodyPr>
          <a:lstStyle/>
          <a:p>
            <a:pPr algn="l">
              <a:lnSpc>
                <a:spcPts val="3919"/>
              </a:lnSpc>
              <a:spcBef>
                <a:spcPct val="0"/>
              </a:spcBef>
            </a:pPr>
            <a:r>
              <a:rPr lang="en-US" b="true" sz="2799">
                <a:solidFill>
                  <a:srgbClr val="FFFFFF"/>
                </a:solidFill>
                <a:latin typeface="Della Respira"/>
                <a:ea typeface="Della Respira"/>
                <a:cs typeface="Della Respira"/>
                <a:sym typeface="Della Respira"/>
              </a:rPr>
              <a:t>1. Input your symptoms </a:t>
            </a:r>
          </a:p>
          <a:p>
            <a:pPr algn="l">
              <a:lnSpc>
                <a:spcPts val="3919"/>
              </a:lnSpc>
              <a:spcBef>
                <a:spcPct val="0"/>
              </a:spcBef>
            </a:pPr>
            <a:r>
              <a:rPr lang="en-US" b="true" sz="2799">
                <a:solidFill>
                  <a:srgbClr val="FFFFFF"/>
                </a:solidFill>
                <a:latin typeface="Della Respira"/>
                <a:ea typeface="Della Respira"/>
                <a:cs typeface="Della Respira"/>
                <a:sym typeface="Della Respira"/>
              </a:rPr>
              <a:t>2. AI give the result </a:t>
            </a:r>
          </a:p>
          <a:p>
            <a:pPr algn="l">
              <a:lnSpc>
                <a:spcPts val="3919"/>
              </a:lnSpc>
              <a:spcBef>
                <a:spcPct val="0"/>
              </a:spcBef>
            </a:pPr>
            <a:r>
              <a:rPr lang="en-US" b="true" sz="2799">
                <a:solidFill>
                  <a:srgbClr val="FFFFFF"/>
                </a:solidFill>
                <a:latin typeface="Della Respira"/>
                <a:ea typeface="Della Respira"/>
                <a:cs typeface="Della Respira"/>
                <a:sym typeface="Della Respira"/>
              </a:rPr>
              <a:t>3. N</a:t>
            </a:r>
            <a:r>
              <a:rPr lang="en-US" sz="2799">
                <a:solidFill>
                  <a:srgbClr val="FFFFFF"/>
                </a:solidFill>
                <a:latin typeface="Della Respira"/>
                <a:ea typeface="Della Respira"/>
                <a:cs typeface="Della Respira"/>
                <a:sym typeface="Della Respira"/>
              </a:rPr>
              <a:t>ea</a:t>
            </a:r>
            <a:r>
              <a:rPr lang="en-US" b="true" sz="2799">
                <a:solidFill>
                  <a:srgbClr val="FFFFFF"/>
                </a:solidFill>
                <a:latin typeface="Della Respira"/>
                <a:ea typeface="Della Respira"/>
                <a:cs typeface="Della Respira"/>
                <a:sym typeface="Della Respira"/>
              </a:rPr>
              <a:t>rby service map ( hospitals \ with wait time )</a:t>
            </a:r>
          </a:p>
          <a:p>
            <a:pPr algn="l">
              <a:lnSpc>
                <a:spcPts val="3919"/>
              </a:lnSpc>
              <a:spcBef>
                <a:spcPct val="0"/>
              </a:spcBef>
            </a:pPr>
            <a:r>
              <a:rPr lang="en-US" b="true" sz="2799">
                <a:solidFill>
                  <a:srgbClr val="FFFFFF"/>
                </a:solidFill>
                <a:latin typeface="Della Respira"/>
                <a:ea typeface="Della Respira"/>
                <a:cs typeface="Della Respira"/>
                <a:sym typeface="Della Respira"/>
              </a:rPr>
              <a:t>_These results come from searches and our business plan Time: wil reduce from 4.2 hrs. → 22 min Diagnostic costs wil be lowered by 63% Overcrowding: wil decrease by 38 % </a:t>
            </a:r>
          </a:p>
        </p:txBody>
      </p:sp>
      <p:sp>
        <p:nvSpPr>
          <p:cNvPr name="TextBox 8" id="8"/>
          <p:cNvSpPr txBox="true"/>
          <p:nvPr/>
        </p:nvSpPr>
        <p:spPr>
          <a:xfrm rot="0">
            <a:off x="2063800" y="655744"/>
            <a:ext cx="7070675"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Prototype Showcase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2033" y="497563"/>
            <a:ext cx="1298707" cy="1298707"/>
          </a:xfrm>
          <a:custGeom>
            <a:avLst/>
            <a:gdLst/>
            <a:ahLst/>
            <a:cxnLst/>
            <a:rect r="r" b="b" t="t" l="l"/>
            <a:pathLst>
              <a:path h="1298707" w="1298707">
                <a:moveTo>
                  <a:pt x="0" y="0"/>
                </a:moveTo>
                <a:lnTo>
                  <a:pt x="1298707" y="0"/>
                </a:lnTo>
                <a:lnTo>
                  <a:pt x="1298707" y="1298707"/>
                </a:lnTo>
                <a:lnTo>
                  <a:pt x="0" y="12987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5" id="5">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808" t="0" r="808" b="0"/>
          <a:stretch>
            <a:fillRect/>
          </a:stretch>
        </p:blipFill>
        <p:spPr>
          <a:xfrm flipH="false" flipV="false" rot="0">
            <a:off x="7304599" y="1542839"/>
            <a:ext cx="3659752" cy="8364815"/>
          </a:xfrm>
          <a:prstGeom prst="rect">
            <a:avLst/>
          </a:prstGeom>
        </p:spPr>
      </p:pic>
      <p:sp>
        <p:nvSpPr>
          <p:cNvPr name="TextBox 6" id="6"/>
          <p:cNvSpPr txBox="true"/>
          <p:nvPr/>
        </p:nvSpPr>
        <p:spPr>
          <a:xfrm rot="0">
            <a:off x="2063800" y="655744"/>
            <a:ext cx="7070675"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Prototype Showcase</a:t>
            </a:r>
          </a:p>
        </p:txBody>
      </p:sp>
    </p:spTree>
  </p:cSld>
  <p:clrMapOvr>
    <a:masterClrMapping/>
  </p:clrMapOvr>
  <p:timing>
    <p:tnLst>
      <p:par>
        <p:cTn dur="indefinite" restart="never" nodeType="tmRoot">
          <p:childTnLst>
            <p:video>
              <p:cMediaNode vol="0">
                <p:cTn fill="hold" display="false">
                  <p:stCondLst>
                    <p:cond delay="indefinite"/>
                  </p:stCondLst>
                </p:cTn>
                <p:tgtEl>
                  <p:spTgt spid="5"/>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2033" y="497563"/>
            <a:ext cx="1298707" cy="1298707"/>
          </a:xfrm>
          <a:custGeom>
            <a:avLst/>
            <a:gdLst/>
            <a:ahLst/>
            <a:cxnLst/>
            <a:rect r="r" b="b" t="t" l="l"/>
            <a:pathLst>
              <a:path h="1298707" w="1298707">
                <a:moveTo>
                  <a:pt x="0" y="0"/>
                </a:moveTo>
                <a:lnTo>
                  <a:pt x="1298707" y="0"/>
                </a:lnTo>
                <a:lnTo>
                  <a:pt x="1298707" y="1298707"/>
                </a:lnTo>
                <a:lnTo>
                  <a:pt x="0" y="12987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228895" y="1656966"/>
            <a:ext cx="4103494" cy="8248229"/>
          </a:xfrm>
          <a:custGeom>
            <a:avLst/>
            <a:gdLst/>
            <a:ahLst/>
            <a:cxnLst/>
            <a:rect r="r" b="b" t="t" l="l"/>
            <a:pathLst>
              <a:path h="8248229" w="4103494">
                <a:moveTo>
                  <a:pt x="0" y="0"/>
                </a:moveTo>
                <a:lnTo>
                  <a:pt x="4103494" y="0"/>
                </a:lnTo>
                <a:lnTo>
                  <a:pt x="4103494" y="8248229"/>
                </a:lnTo>
                <a:lnTo>
                  <a:pt x="0" y="8248229"/>
                </a:lnTo>
                <a:lnTo>
                  <a:pt x="0" y="0"/>
                </a:lnTo>
                <a:close/>
              </a:path>
            </a:pathLst>
          </a:custGeom>
          <a:blipFill>
            <a:blip r:embed="rId8"/>
            <a:stretch>
              <a:fillRect l="0" t="0" r="0" b="0"/>
            </a:stretch>
          </a:blipFill>
        </p:spPr>
      </p:sp>
      <p:pic>
        <p:nvPicPr>
          <p:cNvPr name="Picture 6" id="6">
            <a:hlinkClick action="ppaction://media"/>
          </p:cNvPr>
          <p:cNvPicPr>
            <a:picLocks noChangeAspect="true"/>
          </p:cNvPicPr>
          <p:nvPr>
            <a:videoFile r:link="rId10"/>
            <p:extLst>
              <p:ext uri="{DAA4B4D4-6D71-4841-9C94-3DE7FCFB9230}">
                <p14:media xmlns:p14="http://schemas.microsoft.com/office/powerpoint/2010/main" r:embed="rId11"/>
              </p:ext>
            </p:extLst>
          </p:nvPr>
        </p:nvPicPr>
        <p:blipFill>
          <a:blip r:embed="rId9"/>
          <a:srcRect l="0" t="0" r="0" b="0"/>
          <a:stretch>
            <a:fillRect/>
          </a:stretch>
        </p:blipFill>
        <p:spPr>
          <a:xfrm flipH="false" flipV="false" rot="0">
            <a:off x="10720614" y="1675595"/>
            <a:ext cx="3659752" cy="8229600"/>
          </a:xfrm>
          <a:prstGeom prst="rect">
            <a:avLst/>
          </a:prstGeom>
        </p:spPr>
      </p:pic>
      <p:sp>
        <p:nvSpPr>
          <p:cNvPr name="TextBox 7" id="7"/>
          <p:cNvSpPr txBox="true"/>
          <p:nvPr/>
        </p:nvSpPr>
        <p:spPr>
          <a:xfrm rot="0">
            <a:off x="2063800" y="655744"/>
            <a:ext cx="7070675"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Prototype Showcase</a:t>
            </a:r>
          </a:p>
        </p:txBody>
      </p:sp>
    </p:spTree>
  </p:cSld>
  <p:clrMapOvr>
    <a:masterClrMapping/>
  </p:clrMapOvr>
  <p:timing>
    <p:tnLst>
      <p:par>
        <p:cTn dur="indefinite" restart="never" nodeType="tmRoot">
          <p:childTnLst>
            <p:video>
              <p:cMediaNode vol="0">
                <p:cTn fill="hold" display="false">
                  <p:stCondLst>
                    <p:cond delay="indefinite"/>
                  </p:stCondLst>
                </p:cTn>
                <p:tgtEl>
                  <p:spTgt spid="6"/>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2033" y="497563"/>
            <a:ext cx="1298707" cy="1298707"/>
          </a:xfrm>
          <a:custGeom>
            <a:avLst/>
            <a:gdLst/>
            <a:ahLst/>
            <a:cxnLst/>
            <a:rect r="r" b="b" t="t" l="l"/>
            <a:pathLst>
              <a:path h="1298707" w="1298707">
                <a:moveTo>
                  <a:pt x="0" y="0"/>
                </a:moveTo>
                <a:lnTo>
                  <a:pt x="1298707" y="0"/>
                </a:lnTo>
                <a:lnTo>
                  <a:pt x="1298707" y="1298707"/>
                </a:lnTo>
                <a:lnTo>
                  <a:pt x="0" y="12987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454701" y="1739875"/>
            <a:ext cx="4065497" cy="8191224"/>
          </a:xfrm>
          <a:custGeom>
            <a:avLst/>
            <a:gdLst/>
            <a:ahLst/>
            <a:cxnLst/>
            <a:rect r="r" b="b" t="t" l="l"/>
            <a:pathLst>
              <a:path h="8191224" w="4065497">
                <a:moveTo>
                  <a:pt x="0" y="0"/>
                </a:moveTo>
                <a:lnTo>
                  <a:pt x="4065497" y="0"/>
                </a:lnTo>
                <a:lnTo>
                  <a:pt x="4065497" y="8191224"/>
                </a:lnTo>
                <a:lnTo>
                  <a:pt x="0" y="8191224"/>
                </a:lnTo>
                <a:lnTo>
                  <a:pt x="0" y="0"/>
                </a:lnTo>
                <a:close/>
              </a:path>
            </a:pathLst>
          </a:custGeom>
          <a:blipFill>
            <a:blip r:embed="rId8"/>
            <a:stretch>
              <a:fillRect l="0" t="0" r="0" b="0"/>
            </a:stretch>
          </a:blipFill>
        </p:spPr>
      </p:sp>
      <p:sp>
        <p:nvSpPr>
          <p:cNvPr name="Freeform 6" id="6"/>
          <p:cNvSpPr/>
          <p:nvPr/>
        </p:nvSpPr>
        <p:spPr>
          <a:xfrm flipH="false" flipV="false" rot="0">
            <a:off x="2828038" y="1739875"/>
            <a:ext cx="4110837" cy="8191224"/>
          </a:xfrm>
          <a:custGeom>
            <a:avLst/>
            <a:gdLst/>
            <a:ahLst/>
            <a:cxnLst/>
            <a:rect r="r" b="b" t="t" l="l"/>
            <a:pathLst>
              <a:path h="8191224" w="4110837">
                <a:moveTo>
                  <a:pt x="0" y="0"/>
                </a:moveTo>
                <a:lnTo>
                  <a:pt x="4110838" y="0"/>
                </a:lnTo>
                <a:lnTo>
                  <a:pt x="4110838" y="8191224"/>
                </a:lnTo>
                <a:lnTo>
                  <a:pt x="0" y="8191224"/>
                </a:lnTo>
                <a:lnTo>
                  <a:pt x="0" y="0"/>
                </a:lnTo>
                <a:close/>
              </a:path>
            </a:pathLst>
          </a:custGeom>
          <a:blipFill>
            <a:blip r:embed="rId9"/>
            <a:stretch>
              <a:fillRect l="0" t="0" r="0" b="0"/>
            </a:stretch>
          </a:blipFill>
        </p:spPr>
      </p:sp>
      <p:sp>
        <p:nvSpPr>
          <p:cNvPr name="Freeform 7" id="7"/>
          <p:cNvSpPr/>
          <p:nvPr/>
        </p:nvSpPr>
        <p:spPr>
          <a:xfrm flipH="false" flipV="false" rot="0">
            <a:off x="12034548" y="1739875"/>
            <a:ext cx="4058038" cy="8191224"/>
          </a:xfrm>
          <a:custGeom>
            <a:avLst/>
            <a:gdLst/>
            <a:ahLst/>
            <a:cxnLst/>
            <a:rect r="r" b="b" t="t" l="l"/>
            <a:pathLst>
              <a:path h="8191224" w="4058038">
                <a:moveTo>
                  <a:pt x="0" y="0"/>
                </a:moveTo>
                <a:lnTo>
                  <a:pt x="4058038" y="0"/>
                </a:lnTo>
                <a:lnTo>
                  <a:pt x="4058038" y="8191224"/>
                </a:lnTo>
                <a:lnTo>
                  <a:pt x="0" y="8191224"/>
                </a:lnTo>
                <a:lnTo>
                  <a:pt x="0" y="0"/>
                </a:lnTo>
                <a:close/>
              </a:path>
            </a:pathLst>
          </a:custGeom>
          <a:blipFill>
            <a:blip r:embed="rId10"/>
            <a:stretch>
              <a:fillRect l="0" t="0" r="0" b="0"/>
            </a:stretch>
          </a:blipFill>
        </p:spPr>
      </p:sp>
      <p:sp>
        <p:nvSpPr>
          <p:cNvPr name="TextBox 8" id="8"/>
          <p:cNvSpPr txBox="true"/>
          <p:nvPr/>
        </p:nvSpPr>
        <p:spPr>
          <a:xfrm rot="0">
            <a:off x="2063800" y="655744"/>
            <a:ext cx="7070675"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Prototype Showcase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05908" y="2690824"/>
            <a:ext cx="17633499" cy="4555490"/>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Chunk Five"/>
                <a:ea typeface="Chunk Five"/>
                <a:cs typeface="Chunk Five"/>
                <a:sym typeface="Chunk Five"/>
              </a:rPr>
              <a:t>Expa</a:t>
            </a:r>
            <a:r>
              <a:rPr lang="en-US" sz="2999">
                <a:solidFill>
                  <a:srgbClr val="FFFFFF"/>
                </a:solidFill>
                <a:latin typeface="Chunk Five"/>
                <a:ea typeface="Chunk Five"/>
                <a:cs typeface="Chunk Five"/>
                <a:sym typeface="Chunk Five"/>
              </a:rPr>
              <a:t>nding Healthcare Access Globaly </a:t>
            </a:r>
          </a:p>
          <a:p>
            <a:pPr algn="l">
              <a:lnSpc>
                <a:spcPts val="4199"/>
              </a:lnSpc>
              <a:spcBef>
                <a:spcPct val="0"/>
              </a:spcBef>
            </a:pPr>
            <a:r>
              <a:rPr lang="en-US" b="true" sz="2999">
                <a:solidFill>
                  <a:srgbClr val="FFFFFF"/>
                </a:solidFill>
                <a:latin typeface="Della Respira"/>
                <a:ea typeface="Della Respira"/>
                <a:cs typeface="Della Respira"/>
                <a:sym typeface="Della Respira"/>
              </a:rPr>
              <a:t>Target Audience: </a:t>
            </a:r>
          </a:p>
          <a:p>
            <a:pPr algn="l">
              <a:lnSpc>
                <a:spcPts val="3919"/>
              </a:lnSpc>
              <a:spcBef>
                <a:spcPct val="0"/>
              </a:spcBef>
            </a:pPr>
            <a:r>
              <a:rPr lang="en-US" b="true" sz="2799">
                <a:solidFill>
                  <a:srgbClr val="FFFFFF"/>
                </a:solidFill>
                <a:latin typeface="Della Respira"/>
                <a:ea typeface="Della Respira"/>
                <a:cs typeface="Della Respira"/>
                <a:sym typeface="Della Respira"/>
              </a:rPr>
              <a:t>1. Patients in rural and underserved areas with limited medical infrastructure. </a:t>
            </a:r>
          </a:p>
          <a:p>
            <a:pPr algn="l">
              <a:lnSpc>
                <a:spcPts val="3919"/>
              </a:lnSpc>
              <a:spcBef>
                <a:spcPct val="0"/>
              </a:spcBef>
            </a:pPr>
            <a:r>
              <a:rPr lang="en-US" b="true" sz="2799">
                <a:solidFill>
                  <a:srgbClr val="FFFFFF"/>
                </a:solidFill>
                <a:latin typeface="Della Respira"/>
                <a:ea typeface="Della Respira"/>
                <a:cs typeface="Della Respira"/>
                <a:sym typeface="Della Respira"/>
              </a:rPr>
              <a:t>2.Elderly, disabled individuals, and chronic ilness patients requiring home healthcare. </a:t>
            </a:r>
          </a:p>
          <a:p>
            <a:pPr algn="l">
              <a:lnSpc>
                <a:spcPts val="3919"/>
              </a:lnSpc>
              <a:spcBef>
                <a:spcPct val="0"/>
              </a:spcBef>
            </a:pPr>
            <a:r>
              <a:rPr lang="en-US" b="true" sz="2799">
                <a:solidFill>
                  <a:srgbClr val="FFFFFF"/>
                </a:solidFill>
                <a:latin typeface="Della Respira"/>
                <a:ea typeface="Della Respira"/>
                <a:cs typeface="Della Respira"/>
                <a:sym typeface="Della Respira"/>
              </a:rPr>
              <a:t>3.Emergency patients in need of fast medical assistance. </a:t>
            </a:r>
          </a:p>
          <a:p>
            <a:pPr algn="l">
              <a:lnSpc>
                <a:spcPts val="3919"/>
              </a:lnSpc>
              <a:spcBef>
                <a:spcPct val="0"/>
              </a:spcBef>
            </a:pPr>
            <a:r>
              <a:rPr lang="en-US" b="true" sz="2799">
                <a:solidFill>
                  <a:srgbClr val="FFFFFF"/>
                </a:solidFill>
                <a:latin typeface="Della Respira"/>
                <a:ea typeface="Della Respira"/>
                <a:cs typeface="Della Respira"/>
                <a:sym typeface="Della Respira"/>
              </a:rPr>
              <a:t>Market Need: </a:t>
            </a:r>
          </a:p>
          <a:p>
            <a:pPr algn="l">
              <a:lnSpc>
                <a:spcPts val="3919"/>
              </a:lnSpc>
              <a:spcBef>
                <a:spcPct val="0"/>
              </a:spcBef>
            </a:pPr>
            <a:r>
              <a:rPr lang="en-US" b="true" sz="2799">
                <a:solidFill>
                  <a:srgbClr val="FFFFFF"/>
                </a:solidFill>
                <a:latin typeface="Della Respira"/>
                <a:ea typeface="Della Respira"/>
                <a:cs typeface="Della Respira"/>
                <a:sym typeface="Della Respira"/>
              </a:rPr>
              <a:t>1. Growing demand for telemedicine and AI driven healthcare solutions. </a:t>
            </a:r>
          </a:p>
          <a:p>
            <a:pPr algn="l">
              <a:lnSpc>
                <a:spcPts val="3919"/>
              </a:lnSpc>
              <a:spcBef>
                <a:spcPct val="0"/>
              </a:spcBef>
            </a:pPr>
            <a:r>
              <a:rPr lang="en-US" b="true" sz="2799">
                <a:solidFill>
                  <a:srgbClr val="FFFFFF"/>
                </a:solidFill>
                <a:latin typeface="Della Respira"/>
                <a:ea typeface="Della Respira"/>
                <a:cs typeface="Della Respira"/>
                <a:sym typeface="Della Respira"/>
              </a:rPr>
              <a:t>2. 3.5 bilion+ smartphone users worldwide. </a:t>
            </a:r>
          </a:p>
          <a:p>
            <a:pPr algn="l">
              <a:lnSpc>
                <a:spcPts val="3919"/>
              </a:lnSpc>
              <a:spcBef>
                <a:spcPct val="0"/>
              </a:spcBef>
            </a:pPr>
            <a:r>
              <a:rPr lang="en-US" b="true" sz="2799">
                <a:solidFill>
                  <a:srgbClr val="FFFFFF"/>
                </a:solidFill>
                <a:latin typeface="Della Respira"/>
                <a:ea typeface="Della Respira"/>
                <a:cs typeface="Della Respira"/>
                <a:sym typeface="Della Respira"/>
              </a:rPr>
              <a:t>3.Rising healthcare costs are driving demand for cost, effective, accessible solutions</a:t>
            </a:r>
          </a:p>
        </p:txBody>
      </p:sp>
      <p:sp>
        <p:nvSpPr>
          <p:cNvPr name="Freeform 5" id="5"/>
          <p:cNvSpPr/>
          <p:nvPr/>
        </p:nvSpPr>
        <p:spPr>
          <a:xfrm flipH="false" flipV="false" rot="0">
            <a:off x="565130" y="560659"/>
            <a:ext cx="1172514" cy="1172514"/>
          </a:xfrm>
          <a:custGeom>
            <a:avLst/>
            <a:gdLst/>
            <a:ahLst/>
            <a:cxnLst/>
            <a:rect r="r" b="b" t="t" l="l"/>
            <a:pathLst>
              <a:path h="1172514" w="1172514">
                <a:moveTo>
                  <a:pt x="0" y="0"/>
                </a:moveTo>
                <a:lnTo>
                  <a:pt x="1172514" y="0"/>
                </a:lnTo>
                <a:lnTo>
                  <a:pt x="1172514" y="1172514"/>
                </a:lnTo>
                <a:lnTo>
                  <a:pt x="0" y="1172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157762" y="655744"/>
            <a:ext cx="6463754"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Market Potential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05908" y="2890849"/>
            <a:ext cx="17633499" cy="3564890"/>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Chunk Five"/>
                <a:ea typeface="Chunk Five"/>
                <a:cs typeface="Chunk Five"/>
                <a:sym typeface="Chunk Five"/>
              </a:rPr>
              <a:t> Comp</a:t>
            </a:r>
            <a:r>
              <a:rPr lang="en-US" sz="2999">
                <a:solidFill>
                  <a:srgbClr val="FFFFFF"/>
                </a:solidFill>
                <a:latin typeface="Chunk Five"/>
                <a:ea typeface="Chunk Five"/>
                <a:cs typeface="Chunk Five"/>
                <a:sym typeface="Chunk Five"/>
              </a:rPr>
              <a:t>etitive Advantage: </a:t>
            </a:r>
          </a:p>
          <a:p>
            <a:pPr algn="l">
              <a:lnSpc>
                <a:spcPts val="3919"/>
              </a:lnSpc>
              <a:spcBef>
                <a:spcPct val="0"/>
              </a:spcBef>
            </a:pPr>
            <a:r>
              <a:rPr lang="en-US" b="true" sz="2799">
                <a:solidFill>
                  <a:srgbClr val="FFFFFF"/>
                </a:solidFill>
                <a:latin typeface="Della Respira"/>
                <a:ea typeface="Della Respira"/>
                <a:cs typeface="Della Respira"/>
                <a:sym typeface="Della Respira"/>
              </a:rPr>
              <a:t>1. AI powered symptom assessment reduces misdiagnosis risks. </a:t>
            </a:r>
          </a:p>
          <a:p>
            <a:pPr algn="l">
              <a:lnSpc>
                <a:spcPts val="3919"/>
              </a:lnSpc>
              <a:spcBef>
                <a:spcPct val="0"/>
              </a:spcBef>
            </a:pPr>
            <a:r>
              <a:rPr lang="en-US" b="true" sz="2799">
                <a:solidFill>
                  <a:srgbClr val="FFFFFF"/>
                </a:solidFill>
                <a:latin typeface="Della Respira"/>
                <a:ea typeface="Della Respira"/>
                <a:cs typeface="Della Respira"/>
                <a:sym typeface="Della Respira"/>
              </a:rPr>
              <a:t>2.Few competitors offer integrated emergency guidance with home nursing support. </a:t>
            </a:r>
          </a:p>
          <a:p>
            <a:pPr algn="l">
              <a:lnSpc>
                <a:spcPts val="4199"/>
              </a:lnSpc>
              <a:spcBef>
                <a:spcPct val="0"/>
              </a:spcBef>
            </a:pPr>
            <a:r>
              <a:rPr lang="en-US" sz="2999">
                <a:solidFill>
                  <a:srgbClr val="FFFFFF"/>
                </a:solidFill>
                <a:latin typeface="Chunk Five"/>
                <a:ea typeface="Chunk Five"/>
                <a:cs typeface="Chunk Five"/>
                <a:sym typeface="Chunk Five"/>
              </a:rPr>
              <a:t>Revenue Streams: </a:t>
            </a:r>
          </a:p>
          <a:p>
            <a:pPr algn="l">
              <a:lnSpc>
                <a:spcPts val="3919"/>
              </a:lnSpc>
              <a:spcBef>
                <a:spcPct val="0"/>
              </a:spcBef>
            </a:pPr>
            <a:r>
              <a:rPr lang="en-US" b="true" sz="2799">
                <a:solidFill>
                  <a:srgbClr val="FFFFFF"/>
                </a:solidFill>
                <a:latin typeface="Della Respira"/>
                <a:ea typeface="Della Respira"/>
                <a:cs typeface="Della Respira"/>
                <a:sym typeface="Della Respira"/>
              </a:rPr>
              <a:t>1. Freemium model like (basic features free, premium AI diagnostics paid). </a:t>
            </a:r>
          </a:p>
          <a:p>
            <a:pPr algn="l">
              <a:lnSpc>
                <a:spcPts val="3919"/>
              </a:lnSpc>
              <a:spcBef>
                <a:spcPct val="0"/>
              </a:spcBef>
            </a:pPr>
            <a:r>
              <a:rPr lang="en-US" b="true" sz="2799">
                <a:solidFill>
                  <a:srgbClr val="FFFFFF"/>
                </a:solidFill>
                <a:latin typeface="Della Respira"/>
                <a:ea typeface="Della Respira"/>
                <a:cs typeface="Della Respira"/>
                <a:sym typeface="Della Respira"/>
              </a:rPr>
              <a:t>2. Partnerships with pharmacies, hospitals, and insurance providers. </a:t>
            </a:r>
          </a:p>
          <a:p>
            <a:pPr algn="l">
              <a:lnSpc>
                <a:spcPts val="3919"/>
              </a:lnSpc>
              <a:spcBef>
                <a:spcPct val="0"/>
              </a:spcBef>
            </a:pPr>
            <a:r>
              <a:rPr lang="en-US" b="true" sz="2799">
                <a:solidFill>
                  <a:srgbClr val="FFFFFF"/>
                </a:solidFill>
                <a:latin typeface="Della Respira"/>
                <a:ea typeface="Della Respira"/>
                <a:cs typeface="Della Respira"/>
                <a:sym typeface="Della Respira"/>
              </a:rPr>
              <a:t>3. Government colaborations for public health initiatives. </a:t>
            </a:r>
          </a:p>
        </p:txBody>
      </p:sp>
      <p:sp>
        <p:nvSpPr>
          <p:cNvPr name="TextBox 5" id="5"/>
          <p:cNvSpPr txBox="true"/>
          <p:nvPr/>
        </p:nvSpPr>
        <p:spPr>
          <a:xfrm rot="0">
            <a:off x="2145305" y="655744"/>
            <a:ext cx="6463754"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Market Potential</a:t>
            </a:r>
          </a:p>
        </p:txBody>
      </p:sp>
      <p:sp>
        <p:nvSpPr>
          <p:cNvPr name="Freeform 6" id="6"/>
          <p:cNvSpPr/>
          <p:nvPr/>
        </p:nvSpPr>
        <p:spPr>
          <a:xfrm flipH="false" flipV="false" rot="0">
            <a:off x="565130" y="560659"/>
            <a:ext cx="1172514" cy="1172514"/>
          </a:xfrm>
          <a:custGeom>
            <a:avLst/>
            <a:gdLst/>
            <a:ahLst/>
            <a:cxnLst/>
            <a:rect r="r" b="b" t="t" l="l"/>
            <a:pathLst>
              <a:path h="1172514" w="1172514">
                <a:moveTo>
                  <a:pt x="0" y="0"/>
                </a:moveTo>
                <a:lnTo>
                  <a:pt x="1172514" y="0"/>
                </a:lnTo>
                <a:lnTo>
                  <a:pt x="1172514" y="1172514"/>
                </a:lnTo>
                <a:lnTo>
                  <a:pt x="0" y="1172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16734">
            <a:off x="-152415" y="8291707"/>
            <a:ext cx="2607604" cy="2142976"/>
          </a:xfrm>
          <a:custGeom>
            <a:avLst/>
            <a:gdLst/>
            <a:ahLst/>
            <a:cxnLst/>
            <a:rect r="r" b="b" t="t" l="l"/>
            <a:pathLst>
              <a:path h="2142976" w="2607604">
                <a:moveTo>
                  <a:pt x="0" y="0"/>
                </a:moveTo>
                <a:lnTo>
                  <a:pt x="2607603" y="0"/>
                </a:lnTo>
                <a:lnTo>
                  <a:pt x="2607603" y="2142976"/>
                </a:lnTo>
                <a:lnTo>
                  <a:pt x="0" y="2142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6036">
            <a:off x="16137394" y="230673"/>
            <a:ext cx="1832486" cy="1832486"/>
          </a:xfrm>
          <a:custGeom>
            <a:avLst/>
            <a:gdLst/>
            <a:ahLst/>
            <a:cxnLst/>
            <a:rect r="r" b="b" t="t" l="l"/>
            <a:pathLst>
              <a:path h="1832486" w="1832486">
                <a:moveTo>
                  <a:pt x="0" y="0"/>
                </a:moveTo>
                <a:lnTo>
                  <a:pt x="1832486" y="0"/>
                </a:lnTo>
                <a:lnTo>
                  <a:pt x="1832486" y="1832486"/>
                </a:lnTo>
                <a:lnTo>
                  <a:pt x="0" y="1832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60319" y="558752"/>
            <a:ext cx="1270082" cy="1176329"/>
          </a:xfrm>
          <a:custGeom>
            <a:avLst/>
            <a:gdLst/>
            <a:ahLst/>
            <a:cxnLst/>
            <a:rect r="r" b="b" t="t" l="l"/>
            <a:pathLst>
              <a:path h="1176329" w="1270082">
                <a:moveTo>
                  <a:pt x="0" y="0"/>
                </a:moveTo>
                <a:lnTo>
                  <a:pt x="1270082" y="0"/>
                </a:lnTo>
                <a:lnTo>
                  <a:pt x="1270082" y="1176329"/>
                </a:lnTo>
                <a:lnTo>
                  <a:pt x="0" y="11763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05908" y="2538025"/>
            <a:ext cx="17753051" cy="4434205"/>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Della Respira"/>
                <a:ea typeface="Della Respira"/>
                <a:cs typeface="Della Respira"/>
                <a:sym typeface="Della Respira"/>
              </a:rPr>
              <a:t> Our</a:t>
            </a:r>
            <a:r>
              <a:rPr lang="en-US" b="true" sz="2799">
                <a:solidFill>
                  <a:srgbClr val="FFFFFF"/>
                </a:solidFill>
                <a:latin typeface="Della Respira"/>
                <a:ea typeface="Della Respira"/>
                <a:cs typeface="Della Respira"/>
                <a:sym typeface="Della Respira"/>
              </a:rPr>
              <a:t> AI-powered healthcare solution revolutionizes medical access by combining inteligent diagnosis with seamless care delivery. The mobile app instantly analyzes symptoms using advanced AI, recommends precise treatments, and connects users to n</a:t>
            </a:r>
            <a:r>
              <a:rPr lang="en-US" sz="2799">
                <a:solidFill>
                  <a:srgbClr val="FFFFFF"/>
                </a:solidFill>
                <a:latin typeface="Della Respira"/>
                <a:ea typeface="Della Respira"/>
                <a:cs typeface="Della Respira"/>
                <a:sym typeface="Della Respira"/>
              </a:rPr>
              <a:t>ea</a:t>
            </a:r>
            <a:r>
              <a:rPr lang="en-US" b="true" sz="2799">
                <a:solidFill>
                  <a:srgbClr val="FFFFFF"/>
                </a:solidFill>
                <a:latin typeface="Della Respira"/>
                <a:ea typeface="Della Respira"/>
                <a:cs typeface="Della Respira"/>
                <a:sym typeface="Della Respira"/>
              </a:rPr>
              <a:t>rby medical services with real-time availability. For urgent needs, our emergency alert system accelerates response times by identifying the closest facilities and sharing critical patient data. The platform also offers one-tap access to qualified home nurses and guarantees reliable medication delivery through partnered pharmacies. Particularly transformative for elderly and chronic care patients, our solution reduces hospital burdens while providing continuous, professional medical support. By integrating cutting-edge technology with healthcare expertise, we're making professional medical assistance accessible to everyone— anytime, anywhere—with just a smartphone. </a:t>
            </a:r>
          </a:p>
        </p:txBody>
      </p:sp>
      <p:sp>
        <p:nvSpPr>
          <p:cNvPr name="TextBox 6" id="6"/>
          <p:cNvSpPr txBox="true"/>
          <p:nvPr/>
        </p:nvSpPr>
        <p:spPr>
          <a:xfrm rot="0">
            <a:off x="8189338" y="655744"/>
            <a:ext cx="3666381"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conclusion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0" y="6542528"/>
            <a:ext cx="3880065" cy="3744472"/>
          </a:xfrm>
          <a:custGeom>
            <a:avLst/>
            <a:gdLst/>
            <a:ahLst/>
            <a:cxnLst/>
            <a:rect r="r" b="b" t="t" l="l"/>
            <a:pathLst>
              <a:path h="3744472" w="3880065">
                <a:moveTo>
                  <a:pt x="0" y="0"/>
                </a:moveTo>
                <a:lnTo>
                  <a:pt x="3880065" y="0"/>
                </a:lnTo>
                <a:lnTo>
                  <a:pt x="3880065" y="3744472"/>
                </a:lnTo>
                <a:lnTo>
                  <a:pt x="0" y="3744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481638" y="886951"/>
            <a:ext cx="7324725" cy="887095"/>
          </a:xfrm>
          <a:prstGeom prst="rect">
            <a:avLst/>
          </a:prstGeom>
        </p:spPr>
        <p:txBody>
          <a:bodyPr anchor="t" rtlCol="false" tIns="0" lIns="0" bIns="0" rIns="0">
            <a:spAutoFit/>
          </a:bodyPr>
          <a:lstStyle/>
          <a:p>
            <a:pPr algn="ctr">
              <a:lnSpc>
                <a:spcPts val="7279"/>
              </a:lnSpc>
            </a:pPr>
            <a:r>
              <a:rPr lang="en-US" sz="5199">
                <a:solidFill>
                  <a:srgbClr val="FFFFFF"/>
                </a:solidFill>
                <a:latin typeface="Yearbook Solid"/>
                <a:ea typeface="Yearbook Solid"/>
                <a:cs typeface="Yearbook Solid"/>
                <a:sym typeface="Yearbook Solid"/>
              </a:rPr>
              <a:t>Presented by:</a:t>
            </a:r>
          </a:p>
        </p:txBody>
      </p:sp>
      <p:sp>
        <p:nvSpPr>
          <p:cNvPr name="TextBox 4" id="4"/>
          <p:cNvSpPr txBox="true"/>
          <p:nvPr/>
        </p:nvSpPr>
        <p:spPr>
          <a:xfrm rot="0">
            <a:off x="0" y="2548890"/>
            <a:ext cx="18288000" cy="5055870"/>
          </a:xfrm>
          <a:prstGeom prst="rect">
            <a:avLst/>
          </a:prstGeom>
        </p:spPr>
        <p:txBody>
          <a:bodyPr anchor="t" rtlCol="false" tIns="0" lIns="0" bIns="0" rIns="0">
            <a:spAutoFit/>
          </a:bodyPr>
          <a:lstStyle/>
          <a:p>
            <a:pPr algn="ctr">
              <a:lnSpc>
                <a:spcPts val="10080"/>
              </a:lnSpc>
            </a:pPr>
            <a:r>
              <a:rPr lang="en-US" sz="7200">
                <a:solidFill>
                  <a:srgbClr val="FFFFFF"/>
                </a:solidFill>
                <a:latin typeface="Della Respira"/>
                <a:ea typeface="Della Respira"/>
                <a:cs typeface="Della Respira"/>
                <a:sym typeface="Della Respira"/>
              </a:rPr>
              <a:t>Anas Ashraf Shredah</a:t>
            </a:r>
          </a:p>
          <a:p>
            <a:pPr algn="ctr">
              <a:lnSpc>
                <a:spcPts val="10080"/>
              </a:lnSpc>
            </a:pPr>
            <a:r>
              <a:rPr lang="en-US" sz="7200">
                <a:solidFill>
                  <a:srgbClr val="FFFFFF"/>
                </a:solidFill>
                <a:latin typeface="Della Respira"/>
                <a:ea typeface="Della Respira"/>
                <a:cs typeface="Della Respira"/>
                <a:sym typeface="Della Respira"/>
              </a:rPr>
              <a:t>Abdallah Mohamed Anwar</a:t>
            </a:r>
          </a:p>
          <a:p>
            <a:pPr algn="ctr">
              <a:lnSpc>
                <a:spcPts val="10080"/>
              </a:lnSpc>
            </a:pPr>
            <a:r>
              <a:rPr lang="en-US" sz="7200">
                <a:solidFill>
                  <a:srgbClr val="FFFFFF"/>
                </a:solidFill>
                <a:latin typeface="Della Respira"/>
                <a:ea typeface="Della Respira"/>
                <a:cs typeface="Della Respira"/>
                <a:sym typeface="Della Respira"/>
              </a:rPr>
              <a:t>Omar Mohamed Radwan</a:t>
            </a:r>
          </a:p>
          <a:p>
            <a:pPr algn="ctr">
              <a:lnSpc>
                <a:spcPts val="10080"/>
              </a:lnSpc>
            </a:pPr>
            <a:r>
              <a:rPr lang="en-US" sz="7200">
                <a:solidFill>
                  <a:srgbClr val="FFFFFF"/>
                </a:solidFill>
                <a:latin typeface="Della Respira"/>
                <a:ea typeface="Della Respira"/>
                <a:cs typeface="Della Respira"/>
                <a:sym typeface="Della Respira"/>
              </a:rPr>
              <a:t>Yousef Mohamed Sayed</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63CDE4">
                <a:alpha val="100000"/>
              </a:srgbClr>
            </a:gs>
            <a:gs pos="100000">
              <a:srgbClr val="27909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3255169" y="2766961"/>
            <a:ext cx="11777662" cy="3298507"/>
          </a:xfrm>
          <a:prstGeom prst="rect">
            <a:avLst/>
          </a:prstGeom>
        </p:spPr>
        <p:txBody>
          <a:bodyPr anchor="t" rtlCol="false" tIns="0" lIns="0" bIns="0" rIns="0">
            <a:spAutoFit/>
          </a:bodyPr>
          <a:lstStyle/>
          <a:p>
            <a:pPr algn="ctr">
              <a:lnSpc>
                <a:spcPts val="26916"/>
              </a:lnSpc>
            </a:pPr>
            <a:r>
              <a:rPr lang="en-US" sz="19225">
                <a:solidFill>
                  <a:srgbClr val="FFFFFF"/>
                </a:solidFill>
                <a:latin typeface="Amsterdam Four"/>
                <a:ea typeface="Amsterdam Four"/>
                <a:cs typeface="Amsterdam Four"/>
                <a:sym typeface="Amsterdam Fou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DAGmD_E6bHU</dc:identifier>
  <dcterms:modified xsi:type="dcterms:W3CDTF">2011-08-01T06:04:30Z</dcterms:modified>
  <cp:revision>1</cp:revision>
  <dc:title>CURAVO</dc:title>
</cp:coreProperties>
</file>